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62" r:id="rId4"/>
    <p:sldId id="258" r:id="rId5"/>
    <p:sldId id="260" r:id="rId6"/>
    <p:sldId id="259" r:id="rId7"/>
    <p:sldId id="261" r:id="rId8"/>
    <p:sldId id="263" r:id="rId9"/>
    <p:sldId id="264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2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15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2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02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1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96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28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70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0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3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9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702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251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70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432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219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409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04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5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66913"/>
            <a:ext cx="7772400" cy="1470025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 err="1"/>
              <a:t>Progettazione</a:t>
            </a:r>
            <a:r>
              <a:rPr dirty="0"/>
              <a:t> e </a:t>
            </a:r>
            <a:r>
              <a:rPr dirty="0" err="1"/>
              <a:t>Sviluppo</a:t>
            </a:r>
            <a:r>
              <a:rPr dirty="0"/>
              <a:t> di </a:t>
            </a:r>
            <a:r>
              <a:rPr dirty="0" err="1"/>
              <a:t>un'Architettura</a:t>
            </a:r>
            <a:r>
              <a:rPr dirty="0"/>
              <a:t> a </a:t>
            </a:r>
            <a:r>
              <a:rPr dirty="0" err="1"/>
              <a:t>Microservizi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450" y="2526828"/>
            <a:ext cx="6400800" cy="1752600"/>
          </a:xfrm>
        </p:spPr>
        <p:txBody>
          <a:bodyPr/>
          <a:lstStyle/>
          <a:p>
            <a:r>
              <a:rPr b="1" dirty="0" err="1">
                <a:solidFill>
                  <a:schemeClr val="tx1"/>
                </a:solidFill>
              </a:rPr>
              <a:t>Gestione</a:t>
            </a:r>
            <a:r>
              <a:rPr b="1" dirty="0">
                <a:solidFill>
                  <a:schemeClr val="tx1"/>
                </a:solidFill>
              </a:rPr>
              <a:t> di un Hub di </a:t>
            </a:r>
            <a:r>
              <a:rPr b="1" dirty="0" err="1">
                <a:solidFill>
                  <a:schemeClr val="tx1"/>
                </a:solidFill>
              </a:rPr>
              <a:t>Ricarica</a:t>
            </a:r>
            <a:r>
              <a:rPr b="1" dirty="0">
                <a:solidFill>
                  <a:schemeClr val="tx1"/>
                </a:solidFill>
              </a:rPr>
              <a:t> per </a:t>
            </a:r>
            <a:r>
              <a:rPr b="1" dirty="0" err="1">
                <a:solidFill>
                  <a:schemeClr val="tx1"/>
                </a:solidFill>
              </a:rPr>
              <a:t>Veicoli</a:t>
            </a:r>
            <a:r>
              <a:rPr b="1" dirty="0">
                <a:solidFill>
                  <a:schemeClr val="tx1"/>
                </a:solidFill>
              </a:rPr>
              <a:t> </a:t>
            </a:r>
            <a:r>
              <a:rPr b="1" dirty="0" err="1">
                <a:solidFill>
                  <a:schemeClr val="tx1"/>
                </a:solidFill>
              </a:rPr>
              <a:t>Elettrici</a:t>
            </a:r>
            <a:endParaRPr b="1" dirty="0">
              <a:solidFill>
                <a:schemeClr val="tx1"/>
              </a:solidFill>
            </a:endParaRP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1600" y="5924550"/>
            <a:ext cx="61341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23232"/>
                </a:solidFill>
              </a:defRPr>
            </a:pPr>
            <a:r>
              <a:rPr dirty="0" err="1"/>
              <a:t>Candidato</a:t>
            </a:r>
            <a:r>
              <a:rPr dirty="0"/>
              <a:t>:					</a:t>
            </a:r>
            <a:r>
              <a:rPr dirty="0" err="1"/>
              <a:t>Relatore</a:t>
            </a:r>
            <a:r>
              <a:rPr dirty="0"/>
              <a:t>:</a:t>
            </a:r>
          </a:p>
          <a:p>
            <a:pPr>
              <a:defRPr sz="1600"/>
            </a:pPr>
            <a:r>
              <a:rPr dirty="0"/>
              <a:t>Raimondo </a:t>
            </a:r>
            <a:r>
              <a:rPr dirty="0" err="1"/>
              <a:t>Panico</a:t>
            </a:r>
            <a:r>
              <a:rPr dirty="0"/>
              <a:t>				Prof. Antonio Esposito</a:t>
            </a:r>
          </a:p>
          <a:p>
            <a:pPr>
              <a:defRPr sz="1600"/>
            </a:pPr>
            <a:r>
              <a:rPr dirty="0" err="1"/>
              <a:t>Matr</a:t>
            </a:r>
            <a:r>
              <a:rPr dirty="0"/>
              <a:t>. A13002793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896" y="3567860"/>
            <a:ext cx="427860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Università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degli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Studi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della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Campania Luigi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Vanvitelli</a:t>
            </a:r>
            <a:b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Dipartimento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di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Ingegneria</a:t>
            </a:r>
            <a:b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Corso di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Laurea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Triennale in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Ingegneria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Elettronica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Informatica</a:t>
            </a:r>
            <a:b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A.A.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Contesto e Limiti dei Monoliti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rPr dirty="0"/>
              <a:t>Il </a:t>
            </a:r>
            <a:r>
              <a:rPr dirty="0" err="1"/>
              <a:t>Dominio</a:t>
            </a:r>
            <a:r>
              <a:rPr dirty="0"/>
              <a:t>: E-Mobility e OCPP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</a:t>
            </a:r>
            <a:r>
              <a:rPr dirty="0" err="1"/>
              <a:t>Transizione</a:t>
            </a:r>
            <a:r>
              <a:rPr dirty="0"/>
              <a:t> </a:t>
            </a:r>
            <a:r>
              <a:rPr dirty="0" err="1"/>
              <a:t>all'e</a:t>
            </a:r>
            <a:r>
              <a:rPr dirty="0"/>
              <a:t>-mobility e </a:t>
            </a:r>
            <a:r>
              <a:rPr dirty="0" err="1"/>
              <a:t>necessità</a:t>
            </a:r>
            <a:r>
              <a:rPr dirty="0"/>
              <a:t> di </a:t>
            </a:r>
            <a:r>
              <a:rPr dirty="0" err="1"/>
              <a:t>infrastrutture</a:t>
            </a:r>
            <a:r>
              <a:rPr dirty="0"/>
              <a:t> IoT </a:t>
            </a:r>
            <a:r>
              <a:rPr dirty="0" err="1"/>
              <a:t>reattive</a:t>
            </a:r>
            <a:r>
              <a:rPr dirty="0"/>
              <a:t> e </a:t>
            </a:r>
            <a:r>
              <a:rPr dirty="0" err="1"/>
              <a:t>scalabili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Scelta</a:t>
            </a:r>
            <a:r>
              <a:rPr dirty="0"/>
              <a:t> </a:t>
            </a:r>
            <a:r>
              <a:rPr dirty="0" err="1"/>
              <a:t>Progettuale</a:t>
            </a:r>
            <a:r>
              <a:rPr dirty="0"/>
              <a:t>: </a:t>
            </a:r>
            <a:r>
              <a:rPr dirty="0" err="1"/>
              <a:t>Astrazione</a:t>
            </a:r>
            <a:r>
              <a:rPr dirty="0"/>
              <a:t> </a:t>
            </a:r>
            <a:r>
              <a:rPr dirty="0" err="1"/>
              <a:t>dell'hardware</a:t>
            </a:r>
            <a:r>
              <a:rPr dirty="0"/>
              <a:t> (</a:t>
            </a:r>
            <a:r>
              <a:rPr dirty="0" err="1"/>
              <a:t>protocollo</a:t>
            </a:r>
            <a:r>
              <a:rPr dirty="0"/>
              <a:t> OCPP) per </a:t>
            </a:r>
            <a:r>
              <a:rPr dirty="0" err="1"/>
              <a:t>focalizzarsi</a:t>
            </a:r>
            <a:r>
              <a:rPr dirty="0"/>
              <a:t> </a:t>
            </a:r>
            <a:r>
              <a:rPr dirty="0" err="1"/>
              <a:t>sull'orchestrazione</a:t>
            </a:r>
            <a:r>
              <a:rPr dirty="0"/>
              <a:t> software e </a:t>
            </a:r>
            <a:r>
              <a:rPr dirty="0" err="1"/>
              <a:t>sulla</a:t>
            </a:r>
            <a:r>
              <a:rPr dirty="0"/>
              <a:t> </a:t>
            </a:r>
            <a:r>
              <a:rPr dirty="0" err="1"/>
              <a:t>gestione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concorrenza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87161"/>
            <a:ext cx="3576916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rPr dirty="0"/>
              <a:t>I </a:t>
            </a:r>
            <a:r>
              <a:rPr dirty="0" err="1"/>
              <a:t>Limiti</a:t>
            </a:r>
            <a:r>
              <a:rPr dirty="0"/>
              <a:t> </a:t>
            </a:r>
            <a:r>
              <a:rPr dirty="0" err="1"/>
              <a:t>dell'Approccio</a:t>
            </a:r>
            <a:r>
              <a:rPr dirty="0"/>
              <a:t> </a:t>
            </a:r>
            <a:r>
              <a:rPr dirty="0" err="1"/>
              <a:t>Monolitico</a:t>
            </a: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• Single Point of Failure: un </a:t>
            </a:r>
            <a:r>
              <a:rPr dirty="0" err="1"/>
              <a:t>guasto</a:t>
            </a:r>
            <a:r>
              <a:rPr dirty="0"/>
              <a:t> in un modulo </a:t>
            </a:r>
            <a:r>
              <a:rPr dirty="0" err="1"/>
              <a:t>secondario</a:t>
            </a:r>
            <a:r>
              <a:rPr dirty="0"/>
              <a:t> </a:t>
            </a:r>
            <a:r>
              <a:rPr dirty="0" err="1"/>
              <a:t>blocca</a:t>
            </a:r>
            <a:r>
              <a:rPr dirty="0"/>
              <a:t> </a:t>
            </a:r>
            <a:r>
              <a:rPr dirty="0" err="1"/>
              <a:t>l'intero</a:t>
            </a:r>
            <a:r>
              <a:rPr dirty="0"/>
              <a:t> hub.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</a:t>
            </a:r>
            <a:r>
              <a:rPr dirty="0" err="1"/>
              <a:t>Scalabilità</a:t>
            </a:r>
            <a:r>
              <a:rPr dirty="0"/>
              <a:t> Rigida: </a:t>
            </a:r>
            <a:r>
              <a:rPr dirty="0" err="1"/>
              <a:t>impossibile</a:t>
            </a:r>
            <a:r>
              <a:rPr dirty="0"/>
              <a:t> </a:t>
            </a:r>
            <a:r>
              <a:rPr dirty="0" err="1"/>
              <a:t>scalare</a:t>
            </a:r>
            <a:r>
              <a:rPr dirty="0"/>
              <a:t> </a:t>
            </a:r>
            <a:r>
              <a:rPr dirty="0" err="1"/>
              <a:t>singole</a:t>
            </a:r>
            <a:r>
              <a:rPr dirty="0"/>
              <a:t> </a:t>
            </a:r>
            <a:r>
              <a:rPr dirty="0" err="1"/>
              <a:t>funzionalità</a:t>
            </a:r>
            <a:r>
              <a:rPr dirty="0"/>
              <a:t> sotto </a:t>
            </a:r>
            <a:r>
              <a:rPr dirty="0" err="1"/>
              <a:t>picchi</a:t>
            </a:r>
            <a:r>
              <a:rPr dirty="0"/>
              <a:t> di </a:t>
            </a:r>
            <a:r>
              <a:rPr dirty="0" err="1"/>
              <a:t>carico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• Deploy </a:t>
            </a:r>
            <a:r>
              <a:rPr dirty="0" err="1"/>
              <a:t>Unitario</a:t>
            </a:r>
            <a:r>
              <a:rPr dirty="0"/>
              <a:t>: aggiornamenti </a:t>
            </a:r>
            <a:r>
              <a:rPr dirty="0" err="1"/>
              <a:t>lenti</a:t>
            </a:r>
            <a:r>
              <a:rPr dirty="0"/>
              <a:t> e </a:t>
            </a:r>
            <a:r>
              <a:rPr dirty="0" err="1"/>
              <a:t>complessi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32F2F"/>
                </a:solidFill>
              </a:defRPr>
            </a:pPr>
            <a:r>
              <a:t>La Sfida Ingegneristica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Superare questi limiti frammentando il sistema, garantendo però la consistenza dei dati durante la prenotazione concorrente delle colonnine.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8A1F45-F8EE-4EBE-AF64-15AFD5A269C3}"/>
              </a:ext>
            </a:extLst>
          </p:cNvPr>
          <p:cNvSpPr txBox="1"/>
          <p:nvPr/>
        </p:nvSpPr>
        <p:spPr>
          <a:xfrm rot="10800000" flipV="1">
            <a:off x="4793875" y="3490410"/>
            <a:ext cx="334831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tx2">
                    <a:lumMod val="75000"/>
                  </a:schemeClr>
                </a:solidFill>
              </a:rPr>
              <a:t>Scenario Operativo:</a:t>
            </a:r>
          </a:p>
          <a:p>
            <a:r>
              <a:rPr lang="it-IT" sz="1400" dirty="0"/>
              <a:t>Il dominio IoT dell'e-</a:t>
            </a:r>
            <a:r>
              <a:rPr lang="it-IT" sz="1400" dirty="0" err="1"/>
              <a:t>mobility</a:t>
            </a:r>
            <a:r>
              <a:rPr lang="it-IT" sz="1400" dirty="0"/>
              <a:t>, governato dallo standard OCPP, richiede back-end altamente resilienti. Il progetto astrae i dettagli di comunicazione hardware per focalizzarsi esclusivamente sulle criticità transazionali e sull'orchestrazione software.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21B8DBF-E226-45FB-9354-FA7EAEDA6580}"/>
              </a:ext>
            </a:extLst>
          </p:cNvPr>
          <p:cNvSpPr txBox="1"/>
          <p:nvPr/>
        </p:nvSpPr>
        <p:spPr>
          <a:xfrm>
            <a:off x="653527" y="3086112"/>
            <a:ext cx="39534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tx2">
                    <a:lumMod val="75000"/>
                  </a:schemeClr>
                </a:solidFill>
              </a:rPr>
              <a:t>Criticità Architetturali:</a:t>
            </a:r>
            <a:r>
              <a:rPr lang="it-IT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it-IT" sz="1400" dirty="0"/>
              <a:t>L'infrastruttura monolitica tradizionale soffre di scalabilità rigida (è impossibile scalare in modo mirato singoli moduli sotto carico), necessita di </a:t>
            </a:r>
            <a:r>
              <a:rPr lang="it-IT" sz="1400" dirty="0" err="1"/>
              <a:t>deploy</a:t>
            </a:r>
            <a:r>
              <a:rPr lang="it-IT" sz="1400" dirty="0"/>
              <a:t> completi per ogni minima patch e introduce pericolosi Single Point of </a:t>
            </a:r>
            <a:r>
              <a:rPr lang="it-IT" sz="1400" dirty="0" err="1"/>
              <a:t>Failure</a:t>
            </a:r>
            <a:r>
              <a:rPr lang="it-IT" sz="1400" dirty="0"/>
              <a:t>.</a:t>
            </a:r>
          </a:p>
          <a:p>
            <a:endParaRPr lang="it-IT" sz="1400" dirty="0"/>
          </a:p>
          <a:p>
            <a:r>
              <a:rPr lang="it-IT" sz="1400" b="1" dirty="0">
                <a:solidFill>
                  <a:schemeClr val="tx2">
                    <a:lumMod val="75000"/>
                  </a:schemeClr>
                </a:solidFill>
              </a:rPr>
              <a:t>Obiettivo:</a:t>
            </a:r>
            <a:r>
              <a:rPr lang="it-IT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it-IT" sz="1400" dirty="0"/>
              <a:t>Passaggio al paradigma a </a:t>
            </a:r>
            <a:r>
              <a:rPr lang="it-IT" sz="1400" dirty="0" err="1"/>
              <a:t>microservizi</a:t>
            </a:r>
            <a:r>
              <a:rPr lang="it-IT" sz="1400" dirty="0"/>
              <a:t> per frammentare le responsabilità applicative, assicurando al contempo la totale coerenza dei dati durante gli accessi concorrenti.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Stack Tecnologico Enterprise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Core &amp; Framework</a:t>
            </a:r>
          </a:p>
          <a:p>
            <a:r>
              <a:t>• Java 17</a:t>
            </a:r>
          </a:p>
          <a:p>
            <a:r>
              <a:t>• Spring Boot 3.x</a:t>
            </a:r>
          </a:p>
          <a:p>
            <a:r>
              <a:t>  - Paradigma 'opinionated'</a:t>
            </a:r>
          </a:p>
          <a:p>
            <a:r>
              <a:t>  - Facilita il setup cloud-native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840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Persistenza Dati</a:t>
            </a:r>
          </a:p>
          <a:p>
            <a:r>
              <a:t>• Spring Data JPA &amp; Hibernate</a:t>
            </a:r>
          </a:p>
          <a:p>
            <a:r>
              <a:t>• Database H2 (In-Memory)</a:t>
            </a:r>
          </a:p>
          <a:p>
            <a:r>
              <a:t>  - Rapida prototipazione</a:t>
            </a:r>
          </a:p>
          <a:p>
            <a:r>
              <a:t>  - Popolato via CommandLineRunner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3840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Build Automation</a:t>
            </a:r>
          </a:p>
          <a:p>
            <a:r>
              <a:t>• Apache Maven</a:t>
            </a:r>
          </a:p>
          <a:p>
            <a:r>
              <a:t>• Nessun Parent POM centralizzato</a:t>
            </a:r>
          </a:p>
          <a:p>
            <a:r>
              <a:t>  - Rispetta il disaccoppiamento totale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114800"/>
            <a:ext cx="3840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420624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Deploy &amp; Esecuzione</a:t>
            </a:r>
          </a:p>
          <a:p>
            <a:r>
              <a:t>• Web Server Tomcat Embedded</a:t>
            </a:r>
          </a:p>
          <a:p>
            <a:r>
              <a:t>• Packaging in Fat-JAR</a:t>
            </a:r>
          </a:p>
          <a:p>
            <a:r>
              <a:t>  - Processi completamente standalone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Architettura a Microservizi e Isolamento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470" y="992393"/>
            <a:ext cx="2743200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4470" y="1177291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 err="1"/>
              <a:t>Servizio</a:t>
            </a:r>
            <a:r>
              <a:rPr dirty="0"/>
              <a:t> </a:t>
            </a:r>
            <a:r>
              <a:rPr dirty="0" err="1"/>
              <a:t>Utenti</a:t>
            </a:r>
            <a:br>
              <a:rPr dirty="0"/>
            </a:br>
            <a:r>
              <a:rPr dirty="0"/>
              <a:t>(Porta 8081)</a:t>
            </a:r>
          </a:p>
          <a:p>
            <a:br>
              <a:rPr dirty="0"/>
            </a:br>
            <a:r>
              <a:rPr dirty="0" err="1"/>
              <a:t>Anagrafica</a:t>
            </a:r>
            <a:r>
              <a:rPr dirty="0"/>
              <a:t> e </a:t>
            </a:r>
            <a:r>
              <a:rPr dirty="0" err="1"/>
              <a:t>autorizzazioni</a:t>
            </a:r>
            <a:endParaRPr dirty="0"/>
          </a:p>
        </p:txBody>
      </p:sp>
      <p:sp>
        <p:nvSpPr>
          <p:cNvPr id="6" name="Can 5"/>
          <p:cNvSpPr/>
          <p:nvPr/>
        </p:nvSpPr>
        <p:spPr>
          <a:xfrm>
            <a:off x="1506070" y="3108961"/>
            <a:ext cx="1371600" cy="1371600"/>
          </a:xfrm>
          <a:prstGeom prst="can">
            <a:avLst/>
          </a:prstGeom>
          <a:solidFill>
            <a:srgbClr val="ECEFF1"/>
          </a:solidFill>
          <a:ln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0270" y="451485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dirty="0"/>
              <a:t>Database H2 (In-Memory)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332" y="992393"/>
            <a:ext cx="274320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0120" y="1241163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 err="1"/>
              <a:t>Servizio</a:t>
            </a:r>
            <a:r>
              <a:rPr dirty="0"/>
              <a:t> </a:t>
            </a:r>
            <a:r>
              <a:rPr dirty="0" err="1"/>
              <a:t>Colonnine</a:t>
            </a:r>
            <a:br>
              <a:rPr dirty="0"/>
            </a:br>
            <a:r>
              <a:rPr dirty="0"/>
              <a:t>(Porta 8082)</a:t>
            </a:r>
          </a:p>
          <a:p>
            <a:br>
              <a:rPr dirty="0"/>
            </a:br>
            <a:r>
              <a:rPr dirty="0" err="1"/>
              <a:t>Infrastruttura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 e </a:t>
            </a:r>
            <a:r>
              <a:rPr dirty="0" err="1"/>
              <a:t>stato</a:t>
            </a:r>
            <a:endParaRPr dirty="0"/>
          </a:p>
        </p:txBody>
      </p:sp>
      <p:sp>
        <p:nvSpPr>
          <p:cNvPr id="10" name="Can 9"/>
          <p:cNvSpPr/>
          <p:nvPr/>
        </p:nvSpPr>
        <p:spPr>
          <a:xfrm>
            <a:off x="6192371" y="3040380"/>
            <a:ext cx="1371600" cy="1371600"/>
          </a:xfrm>
          <a:prstGeom prst="can">
            <a:avLst/>
          </a:prstGeom>
          <a:solidFill>
            <a:srgbClr val="ECEFF1"/>
          </a:solidFill>
          <a:ln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80530" y="4473837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dirty="0"/>
              <a:t>Database H2 (In-Memory)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4108077"/>
            <a:ext cx="3200400" cy="0"/>
          </a:xfrm>
          <a:prstGeom prst="line">
            <a:avLst/>
          </a:prstGeom>
          <a:ln w="38100">
            <a:solidFill>
              <a:srgbClr val="D32F2F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ultiply 12"/>
          <p:cNvSpPr/>
          <p:nvPr/>
        </p:nvSpPr>
        <p:spPr>
          <a:xfrm>
            <a:off x="4114800" y="3291258"/>
            <a:ext cx="914400" cy="914400"/>
          </a:xfrm>
          <a:prstGeom prst="mathMultiply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4494" y="3111651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D32F2F"/>
                </a:solidFill>
              </a:defRPr>
            </a:pPr>
            <a:r>
              <a:rPr dirty="0" err="1"/>
              <a:t>Nessuna</a:t>
            </a:r>
            <a:r>
              <a:rPr dirty="0"/>
              <a:t> Foreign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217920"/>
            <a:ext cx="8229600" cy="54864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Database-per-Service: Disaccoppiamento reale tramite assenza totale di chiavi esterne a livello relazionale.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0586FB0-8EAE-4E59-A431-74DD43DE1114}"/>
              </a:ext>
            </a:extLst>
          </p:cNvPr>
          <p:cNvSpPr txBox="1"/>
          <p:nvPr/>
        </p:nvSpPr>
        <p:spPr>
          <a:xfrm>
            <a:off x="548640" y="4739994"/>
            <a:ext cx="27432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Scomposizione del Dominio: </a:t>
            </a:r>
          </a:p>
          <a:p>
            <a:r>
              <a:rPr lang="it-IT" sz="1400" dirty="0"/>
              <a:t>Separazione netta delle responsabilità tra il </a:t>
            </a:r>
            <a:r>
              <a:rPr lang="it-IT" sz="1400" i="1" dirty="0"/>
              <a:t>Servizio Utenti</a:t>
            </a:r>
            <a:r>
              <a:rPr lang="it-IT" sz="1400" dirty="0"/>
              <a:t> (scudo autorizzativo e anagrafica) e il </a:t>
            </a:r>
            <a:r>
              <a:rPr lang="it-IT" sz="1400" i="1" dirty="0"/>
              <a:t>Servizio Colonnine</a:t>
            </a:r>
            <a:r>
              <a:rPr lang="it-IT" sz="1400" dirty="0"/>
              <a:t> (stato dell'infrastruttura fisica).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3C476AA-F3B7-4F16-A49B-3188A3CC1E99}"/>
              </a:ext>
            </a:extLst>
          </p:cNvPr>
          <p:cNvSpPr txBox="1"/>
          <p:nvPr/>
        </p:nvSpPr>
        <p:spPr>
          <a:xfrm>
            <a:off x="3338232" y="4721467"/>
            <a:ext cx="2833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Pattern Database-per-Service: </a:t>
            </a:r>
          </a:p>
          <a:p>
            <a:r>
              <a:rPr lang="it-IT" sz="1400" dirty="0"/>
              <a:t>Ciascun modulo opera in totale autonomia su un proprio livello di persistenza dati fisicamente isolato (istanze H2 indipendenti).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72D2A05-A6B3-451A-AE8D-B164960408B0}"/>
              </a:ext>
            </a:extLst>
          </p:cNvPr>
          <p:cNvSpPr txBox="1"/>
          <p:nvPr/>
        </p:nvSpPr>
        <p:spPr>
          <a:xfrm>
            <a:off x="6150910" y="4734932"/>
            <a:ext cx="261545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Disaccoppiamento Reale:</a:t>
            </a:r>
          </a:p>
          <a:p>
            <a:r>
              <a:rPr lang="it-IT" sz="1400" dirty="0"/>
              <a:t>Assenza intenzionale di vincoli referenziali (</a:t>
            </a:r>
            <a:r>
              <a:rPr lang="it-IT" sz="1400" i="1" dirty="0"/>
              <a:t>Foreign Key</a:t>
            </a:r>
            <a:r>
              <a:rPr lang="it-IT" sz="1400" dirty="0"/>
              <a:t>) tra i domini per azzerare il rischio di lock distribuiti e fallimenti a cascata.</a:t>
            </a:r>
            <a:endParaRPr lang="it-IT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Il Teorema CAP e i Trade-off Architetturali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108960" y="1423571"/>
            <a:ext cx="2743200" cy="2286000"/>
          </a:xfrm>
          <a:prstGeom prst="triangle">
            <a:avLst/>
          </a:prstGeom>
          <a:solidFill>
            <a:srgbClr val="E3F2FD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08960" y="97286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 err="1"/>
              <a:t>Coerenza</a:t>
            </a:r>
            <a:r>
              <a:rPr dirty="0"/>
              <a:t> (Consistency)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98195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 err="1"/>
              <a:t>Disponibilità</a:t>
            </a:r>
            <a:r>
              <a:rPr dirty="0"/>
              <a:t> (Availability)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8810" y="2943886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/>
            </a:pPr>
            <a:r>
              <a:rPr dirty="0" err="1"/>
              <a:t>Tolleranza</a:t>
            </a:r>
            <a:r>
              <a:rPr dirty="0"/>
              <a:t> </a:t>
            </a:r>
            <a:r>
              <a:rPr dirty="0" err="1"/>
              <a:t>Partizioni</a:t>
            </a:r>
            <a:r>
              <a:rPr dirty="0"/>
              <a:t> (Partition Tolerance)</a:t>
            </a:r>
          </a:p>
        </p:txBody>
      </p:sp>
      <p:sp>
        <p:nvSpPr>
          <p:cNvPr id="8" name="Explosion 7"/>
          <p:cNvSpPr/>
          <p:nvPr/>
        </p:nvSpPr>
        <p:spPr>
          <a:xfrm>
            <a:off x="4438874" y="1851759"/>
            <a:ext cx="1371600" cy="1097280"/>
          </a:xfrm>
          <a:prstGeom prst="irregularSeal1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0314" y="2187088"/>
            <a:ext cx="1280160" cy="4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/>
            </a:pPr>
            <a:r>
              <a:rPr dirty="0" err="1"/>
              <a:t>Modello</a:t>
            </a:r>
            <a:r>
              <a:rPr dirty="0"/>
              <a:t> CP </a:t>
            </a:r>
            <a:r>
              <a:rPr dirty="0" err="1"/>
              <a:t>sce</a:t>
            </a:r>
            <a:r>
              <a:rPr lang="it-IT" dirty="0"/>
              <a:t>l</a:t>
            </a:r>
            <a:r>
              <a:rPr dirty="0"/>
              <a:t>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5850" y="5836022"/>
            <a:ext cx="7315200" cy="9144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5850" y="6031612"/>
            <a:ext cx="7052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 err="1"/>
              <a:t>Scelta</a:t>
            </a:r>
            <a:r>
              <a:rPr dirty="0"/>
              <a:t> </a:t>
            </a:r>
            <a:r>
              <a:rPr dirty="0" err="1"/>
              <a:t>Architetturale</a:t>
            </a:r>
            <a:r>
              <a:rPr dirty="0"/>
              <a:t>: </a:t>
            </a:r>
            <a:r>
              <a:rPr dirty="0" err="1"/>
              <a:t>Prevenire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dirty="0" err="1"/>
              <a:t>incoerenti</a:t>
            </a:r>
            <a:r>
              <a:rPr dirty="0"/>
              <a:t> a </a:t>
            </a:r>
            <a:r>
              <a:rPr dirty="0" err="1"/>
              <a:t>costo</a:t>
            </a:r>
            <a:r>
              <a:rPr dirty="0"/>
              <a:t> di </a:t>
            </a:r>
            <a:r>
              <a:rPr dirty="0" err="1"/>
              <a:t>fallimenti</a:t>
            </a:r>
            <a:r>
              <a:rPr dirty="0"/>
              <a:t> </a:t>
            </a:r>
            <a:r>
              <a:rPr dirty="0" err="1"/>
              <a:t>controllati</a:t>
            </a:r>
            <a:r>
              <a:rPr dirty="0"/>
              <a:t> (es. </a:t>
            </a:r>
            <a:r>
              <a:rPr dirty="0" err="1"/>
              <a:t>blocco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</a:t>
            </a:r>
            <a:r>
              <a:rPr dirty="0" err="1"/>
              <a:t>richiesta</a:t>
            </a:r>
            <a:r>
              <a:rPr dirty="0"/>
              <a:t> se il </a:t>
            </a:r>
            <a:r>
              <a:rPr dirty="0" err="1"/>
              <a:t>Servizio</a:t>
            </a:r>
            <a:r>
              <a:rPr dirty="0"/>
              <a:t> </a:t>
            </a:r>
            <a:r>
              <a:rPr dirty="0" err="1"/>
              <a:t>Colonnine</a:t>
            </a:r>
            <a:r>
              <a:rPr dirty="0"/>
              <a:t> è </a:t>
            </a:r>
            <a:r>
              <a:rPr dirty="0" err="1"/>
              <a:t>irraggiungibile</a:t>
            </a:r>
            <a:r>
              <a:rPr dirty="0"/>
              <a:t>).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EBF4F66-23EC-4EF9-A1F6-A0CD264B300B}"/>
              </a:ext>
            </a:extLst>
          </p:cNvPr>
          <p:cNvSpPr txBox="1"/>
          <p:nvPr/>
        </p:nvSpPr>
        <p:spPr>
          <a:xfrm>
            <a:off x="700591" y="3962001"/>
            <a:ext cx="283060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Vincolo di Rete:</a:t>
            </a:r>
            <a:r>
              <a:rPr lang="it-IT" sz="1600" dirty="0"/>
              <a:t> </a:t>
            </a:r>
          </a:p>
          <a:p>
            <a:r>
              <a:rPr lang="it-IT" sz="1400" dirty="0"/>
              <a:t>Nei sistemi distribuiti la Tolleranza alle Partizioni (P) è non negoziabile; il sistema impone una scelta esclusiva tra Coerenza (C) e Disponibilità (A).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CC6F60F-561B-404E-A9C6-6754922C1AB8}"/>
              </a:ext>
            </a:extLst>
          </p:cNvPr>
          <p:cNvSpPr txBox="1"/>
          <p:nvPr/>
        </p:nvSpPr>
        <p:spPr>
          <a:xfrm>
            <a:off x="3548678" y="3961229"/>
            <a:ext cx="2830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Analisi del Dominio:</a:t>
            </a:r>
            <a:r>
              <a:rPr lang="it-IT" sz="1600" dirty="0"/>
              <a:t> </a:t>
            </a:r>
          </a:p>
          <a:p>
            <a:r>
              <a:rPr lang="it-IT" sz="1400" dirty="0"/>
              <a:t>L'assegnazione dell'infrastruttura fisica di ricarica richiede assoluta rigidità transazionale per evitare conflitti o doppie prenotazioni.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082919E-43FA-4BB5-AE80-9E5A6B7E466E}"/>
              </a:ext>
            </a:extLst>
          </p:cNvPr>
          <p:cNvSpPr txBox="1"/>
          <p:nvPr/>
        </p:nvSpPr>
        <p:spPr>
          <a:xfrm>
            <a:off x="6087184" y="3957814"/>
            <a:ext cx="28306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Trade-off Architetturale (Modello CP):</a:t>
            </a:r>
            <a:r>
              <a:rPr lang="it-IT" sz="1600" dirty="0"/>
              <a:t> </a:t>
            </a:r>
          </a:p>
          <a:p>
            <a:r>
              <a:rPr lang="it-IT" sz="1400" dirty="0"/>
              <a:t>Scelta deliberata di sacrificare la disponibilità assoluta del sistema a favore di una rigorosa coerenza (</a:t>
            </a:r>
            <a:r>
              <a:rPr lang="it-IT" sz="1400" dirty="0" err="1"/>
              <a:t>Consistency</a:t>
            </a:r>
            <a:r>
              <a:rPr lang="it-IT" sz="1400" dirty="0"/>
              <a:t>), gestendo i guasti di rete tramite fallimenti controllati.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Comunicazione e Orchestrazione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542" y="96011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rPr dirty="0"/>
              <a:t>Pattern: </a:t>
            </a:r>
            <a:r>
              <a:rPr dirty="0" err="1"/>
              <a:t>Orchestrazione</a:t>
            </a:r>
            <a:r>
              <a:rPr dirty="0"/>
              <a:t> </a:t>
            </a:r>
            <a:r>
              <a:rPr dirty="0" err="1"/>
              <a:t>Sincrona</a:t>
            </a:r>
            <a:r>
              <a:rPr dirty="0"/>
              <a:t> </a:t>
            </a:r>
            <a:r>
              <a:rPr dirty="0" err="1"/>
              <a:t>bloccante</a:t>
            </a:r>
            <a:r>
              <a:rPr dirty="0"/>
              <a:t> via HTTP/REST </a:t>
            </a:r>
            <a:r>
              <a:rPr dirty="0" err="1"/>
              <a:t>tramite</a:t>
            </a:r>
            <a:r>
              <a:rPr dirty="0"/>
              <a:t> </a:t>
            </a:r>
            <a:r>
              <a:rPr dirty="0" err="1"/>
              <a:t>RestTemplate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4975" y="2468880"/>
            <a:ext cx="1828800" cy="2743200"/>
          </a:xfrm>
          <a:prstGeom prst="roundRect">
            <a:avLst/>
          </a:prstGeom>
          <a:solidFill>
            <a:srgbClr val="ECEFF1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3535" y="269479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/>
              <a:t>Client</a:t>
            </a:r>
            <a:br>
              <a:rPr dirty="0"/>
            </a:br>
            <a:r>
              <a:rPr dirty="0"/>
              <a:t>(</a:t>
            </a:r>
            <a:r>
              <a:rPr dirty="0" err="1"/>
              <a:t>Guidatore</a:t>
            </a:r>
            <a:r>
              <a:rPr dirty="0"/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439294"/>
            <a:ext cx="1828800" cy="27432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47795" y="26974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/>
            </a:pPr>
            <a:r>
              <a:rPr dirty="0" err="1"/>
              <a:t>Servizio</a:t>
            </a:r>
            <a:r>
              <a:rPr dirty="0"/>
              <a:t> </a:t>
            </a:r>
            <a:r>
              <a:rPr dirty="0" err="1"/>
              <a:t>Utenti</a:t>
            </a:r>
            <a:br>
              <a:rPr dirty="0"/>
            </a:br>
            <a:r>
              <a:rPr dirty="0"/>
              <a:t>(</a:t>
            </a:r>
            <a:r>
              <a:rPr dirty="0" err="1"/>
              <a:t>Orchestratore</a:t>
            </a:r>
            <a:r>
              <a:rPr dirty="0"/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5778" y="2260139"/>
            <a:ext cx="1874707" cy="27432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63018" y="2694127"/>
            <a:ext cx="2120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/>
            </a:pPr>
            <a:r>
              <a:rPr dirty="0" err="1"/>
              <a:t>Servizio</a:t>
            </a:r>
            <a:r>
              <a:rPr dirty="0"/>
              <a:t> </a:t>
            </a:r>
            <a:r>
              <a:rPr dirty="0" err="1"/>
              <a:t>Colonnine</a:t>
            </a:r>
            <a:br>
              <a:rPr dirty="0"/>
            </a:br>
            <a:r>
              <a:rPr dirty="0"/>
              <a:t>(</a:t>
            </a:r>
            <a:r>
              <a:rPr dirty="0" err="1"/>
              <a:t>Risorsa</a:t>
            </a:r>
            <a:r>
              <a:rPr dirty="0"/>
              <a:t>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67635" y="2957006"/>
            <a:ext cx="1188720" cy="274320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64628" y="268403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1. POST /</a:t>
            </a:r>
            <a:r>
              <a:rPr dirty="0" err="1"/>
              <a:t>avvia</a:t>
            </a:r>
            <a:endParaRPr dirty="0"/>
          </a:p>
        </p:txBody>
      </p:sp>
      <p:sp>
        <p:nvSpPr>
          <p:cNvPr id="13" name="Rectangular Callout 12"/>
          <p:cNvSpPr/>
          <p:nvPr/>
        </p:nvSpPr>
        <p:spPr>
          <a:xfrm>
            <a:off x="3474720" y="1371599"/>
            <a:ext cx="2194560" cy="914400"/>
          </a:xfrm>
          <a:prstGeom prst="wedgeRectCallou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524894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stato</a:t>
            </a:r>
            <a:br>
              <a:rPr dirty="0"/>
            </a:br>
            <a:r>
              <a:rPr dirty="0" err="1"/>
              <a:t>abbonamento</a:t>
            </a:r>
            <a:r>
              <a:rPr dirty="0"/>
              <a:t> locale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77840" y="3609192"/>
            <a:ext cx="1188720" cy="274320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45810" y="3383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3. </a:t>
            </a:r>
            <a:r>
              <a:rPr dirty="0" err="1"/>
              <a:t>Inoltro</a:t>
            </a:r>
            <a:r>
              <a:rPr dirty="0"/>
              <a:t> POST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2282993" y="4183380"/>
            <a:ext cx="4470755" cy="274320"/>
          </a:xfrm>
          <a:prstGeom prst="lef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4550487"/>
            <a:ext cx="1784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E7D32"/>
                </a:solidFill>
              </a:defRPr>
            </a:pPr>
            <a:r>
              <a:rPr dirty="0"/>
              <a:t>4. </a:t>
            </a:r>
            <a:r>
              <a:rPr dirty="0" err="1"/>
              <a:t>Risposta</a:t>
            </a:r>
            <a:r>
              <a:rPr dirty="0"/>
              <a:t> HTTP 200 OK retro-</a:t>
            </a:r>
            <a:r>
              <a:rPr dirty="0" err="1"/>
              <a:t>propagata</a:t>
            </a:r>
            <a:endParaRPr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D375FE5-6052-4906-8304-4BEB623D446A}"/>
              </a:ext>
            </a:extLst>
          </p:cNvPr>
          <p:cNvSpPr txBox="1"/>
          <p:nvPr/>
        </p:nvSpPr>
        <p:spPr>
          <a:xfrm>
            <a:off x="509961" y="5182494"/>
            <a:ext cx="2905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Paradigma Architetturale:</a:t>
            </a:r>
            <a:r>
              <a:rPr lang="it-IT" sz="1600" dirty="0"/>
              <a:t> </a:t>
            </a:r>
            <a:r>
              <a:rPr lang="it-IT" sz="1400" dirty="0"/>
              <a:t>Adozione dell'orchestrazione sincrona bloccante basata su API </a:t>
            </a:r>
            <a:r>
              <a:rPr lang="it-IT" sz="1400" dirty="0" err="1"/>
              <a:t>RESTful</a:t>
            </a:r>
            <a:r>
              <a:rPr lang="it-IT" sz="1400" dirty="0"/>
              <a:t> (su protocollo HTTP) per garantire transazioni immediate e coerenti.</a:t>
            </a:r>
            <a:endParaRPr lang="it-IT" sz="1000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BDC3072-954B-4AF5-B23F-DBEC382F9FA0}"/>
              </a:ext>
            </a:extLst>
          </p:cNvPr>
          <p:cNvSpPr txBox="1"/>
          <p:nvPr/>
        </p:nvSpPr>
        <p:spPr>
          <a:xfrm>
            <a:off x="3304942" y="5157785"/>
            <a:ext cx="2576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Ruolo dell'Orchestratore:</a:t>
            </a:r>
            <a:r>
              <a:rPr lang="it-IT" sz="1600" dirty="0"/>
              <a:t> </a:t>
            </a:r>
          </a:p>
          <a:p>
            <a:r>
              <a:rPr lang="it-IT" sz="1400" dirty="0"/>
              <a:t>Il Servizio Utenti accentra il flusso applicativo: esegue la validazione locale delle policy autorizzative prima di instradare la transazione.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C8C5CF3-712A-467B-89EF-516D71D079C0}"/>
              </a:ext>
            </a:extLst>
          </p:cNvPr>
          <p:cNvSpPr txBox="1"/>
          <p:nvPr/>
        </p:nvSpPr>
        <p:spPr>
          <a:xfrm>
            <a:off x="6663018" y="57082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411C71B-BBB1-4A72-993D-DD6122C1729E}"/>
              </a:ext>
            </a:extLst>
          </p:cNvPr>
          <p:cNvSpPr txBox="1"/>
          <p:nvPr/>
        </p:nvSpPr>
        <p:spPr>
          <a:xfrm>
            <a:off x="5839059" y="4932840"/>
            <a:ext cx="286996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Comunicazione Inter-Servizio:</a:t>
            </a:r>
          </a:p>
          <a:p>
            <a:r>
              <a:rPr lang="it-IT" sz="1400" dirty="0"/>
              <a:t>Utilizzo del client HTTP </a:t>
            </a:r>
            <a:r>
              <a:rPr lang="it-IT" sz="1400" dirty="0" err="1"/>
              <a:t>RestTemplate</a:t>
            </a:r>
            <a:r>
              <a:rPr lang="it-IT" sz="1400" dirty="0"/>
              <a:t> per inviare il payload JSON al Servizio Colonnine, con retro-propagazione dello status code (es. 200 OK) a transazione conclusa.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Controllo Concorrenza: Optimistic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797" y="102704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32F2F"/>
                </a:solidFill>
              </a:defRPr>
            </a:pPr>
            <a:r>
              <a:rPr dirty="0"/>
              <a:t>Il </a:t>
            </a:r>
            <a:r>
              <a:rPr dirty="0" err="1"/>
              <a:t>Rischio</a:t>
            </a:r>
            <a:r>
              <a:rPr dirty="0"/>
              <a:t>: Race Condition</a:t>
            </a:r>
          </a:p>
        </p:txBody>
      </p:sp>
      <p:sp>
        <p:nvSpPr>
          <p:cNvPr id="5" name="Down Arrow 4"/>
          <p:cNvSpPr/>
          <p:nvPr/>
        </p:nvSpPr>
        <p:spPr>
          <a:xfrm>
            <a:off x="1005840" y="1828800"/>
            <a:ext cx="457200" cy="526816"/>
          </a:xfrm>
          <a:prstGeom prst="down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2942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Thread A</a:t>
            </a:r>
          </a:p>
        </p:txBody>
      </p:sp>
      <p:sp>
        <p:nvSpPr>
          <p:cNvPr id="7" name="Down Arrow 6"/>
          <p:cNvSpPr/>
          <p:nvPr/>
        </p:nvSpPr>
        <p:spPr>
          <a:xfrm>
            <a:off x="2697480" y="1811319"/>
            <a:ext cx="457200" cy="441556"/>
          </a:xfrm>
          <a:prstGeom prst="down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6597" y="1429423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Thread B</a:t>
            </a:r>
          </a:p>
        </p:txBody>
      </p:sp>
      <p:sp>
        <p:nvSpPr>
          <p:cNvPr id="9" name="Explosion 8"/>
          <p:cNvSpPr/>
          <p:nvPr/>
        </p:nvSpPr>
        <p:spPr>
          <a:xfrm>
            <a:off x="1055893" y="1951682"/>
            <a:ext cx="2048734" cy="1284717"/>
          </a:xfrm>
          <a:prstGeom prst="irregularSeal2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6205" y="2409375"/>
            <a:ext cx="1388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dirty="0" err="1"/>
              <a:t>Colonnina</a:t>
            </a:r>
            <a:r>
              <a:rPr dirty="0"/>
              <a:t>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176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rPr dirty="0"/>
              <a:t>La </a:t>
            </a:r>
            <a:r>
              <a:rPr dirty="0" err="1"/>
              <a:t>Soluzione</a:t>
            </a:r>
            <a:r>
              <a:rPr dirty="0"/>
              <a:t>: @Version (JPA)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054" y="1429422"/>
            <a:ext cx="41148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908176" y="16002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rPr dirty="0"/>
              <a:t>// </a:t>
            </a:r>
            <a:r>
              <a:rPr dirty="0" err="1"/>
              <a:t>Traduzione</a:t>
            </a:r>
            <a:r>
              <a:rPr dirty="0"/>
              <a:t> SQL </a:t>
            </a:r>
            <a:r>
              <a:rPr dirty="0" err="1"/>
              <a:t>eseguita</a:t>
            </a:r>
            <a:r>
              <a:rPr dirty="0"/>
              <a:t> da Hibernate:</a:t>
            </a:r>
          </a:p>
          <a:p>
            <a:pPr>
              <a:defRPr sz="1400" b="1">
                <a:solidFill>
                  <a:srgbClr val="0000FF"/>
                </a:solidFill>
                <a:latin typeface="Courier New"/>
              </a:defRPr>
            </a:pPr>
            <a:r>
              <a:rPr dirty="0"/>
              <a:t>UPDATE </a:t>
            </a:r>
            <a:r>
              <a:rPr dirty="0" err="1"/>
              <a:t>colonnine</a:t>
            </a:r>
            <a:endParaRPr dirty="0"/>
          </a:p>
          <a:p>
            <a:pPr>
              <a:defRPr sz="1400">
                <a:latin typeface="Courier New"/>
              </a:defRPr>
            </a:pPr>
            <a:r>
              <a:rPr dirty="0"/>
              <a:t>SET </a:t>
            </a:r>
            <a:r>
              <a:rPr dirty="0" err="1"/>
              <a:t>stato</a:t>
            </a:r>
            <a:r>
              <a:rPr dirty="0"/>
              <a:t> = 'IN_USO', </a:t>
            </a:r>
            <a:r>
              <a:rPr dirty="0" err="1"/>
              <a:t>versione</a:t>
            </a:r>
            <a:r>
              <a:rPr dirty="0"/>
              <a:t> = 2</a:t>
            </a:r>
          </a:p>
          <a:p>
            <a:pPr>
              <a:defRPr sz="1400" b="1">
                <a:solidFill>
                  <a:srgbClr val="D32F2F"/>
                </a:solidFill>
                <a:latin typeface="Courier New"/>
              </a:defRPr>
            </a:pPr>
            <a:r>
              <a:rPr dirty="0"/>
              <a:t>WHERE id = 4 AND </a:t>
            </a:r>
            <a:r>
              <a:rPr dirty="0" err="1"/>
              <a:t>versione</a:t>
            </a:r>
            <a:r>
              <a:rPr dirty="0"/>
              <a:t> = 1;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94300" y="3946712"/>
            <a:ext cx="3737235" cy="1828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0350" y="4038152"/>
            <a:ext cx="3591186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dirty="0" err="1"/>
              <a:t>Esito</a:t>
            </a:r>
            <a:r>
              <a:rPr dirty="0"/>
              <a:t> in </a:t>
            </a:r>
            <a:r>
              <a:rPr dirty="0" err="1"/>
              <a:t>caso</a:t>
            </a:r>
            <a:r>
              <a:rPr dirty="0"/>
              <a:t> di </a:t>
            </a:r>
            <a:r>
              <a:rPr dirty="0" err="1"/>
              <a:t>collisione</a:t>
            </a:r>
            <a:r>
              <a:rPr dirty="0"/>
              <a:t>:</a:t>
            </a:r>
          </a:p>
          <a:p>
            <a:pPr>
              <a:defRPr sz="1300"/>
            </a:pPr>
            <a:r>
              <a:rPr dirty="0"/>
              <a:t>Se la </a:t>
            </a:r>
            <a:r>
              <a:rPr dirty="0" err="1"/>
              <a:t>versione</a:t>
            </a:r>
            <a:r>
              <a:rPr dirty="0"/>
              <a:t> non coincide, </a:t>
            </a:r>
            <a:r>
              <a:rPr dirty="0" err="1"/>
              <a:t>l'UPDATE</a:t>
            </a:r>
            <a:r>
              <a:rPr dirty="0"/>
              <a:t> </a:t>
            </a:r>
            <a:r>
              <a:rPr dirty="0" err="1"/>
              <a:t>fallisce</a:t>
            </a:r>
            <a:r>
              <a:rPr dirty="0"/>
              <a:t> (0 </a:t>
            </a:r>
            <a:r>
              <a:rPr dirty="0" err="1"/>
              <a:t>righe</a:t>
            </a:r>
            <a:r>
              <a:rPr dirty="0"/>
              <a:t> </a:t>
            </a:r>
            <a:r>
              <a:rPr dirty="0" err="1"/>
              <a:t>aggiornate</a:t>
            </a:r>
            <a:r>
              <a:rPr dirty="0"/>
              <a:t>).</a:t>
            </a:r>
          </a:p>
          <a:p>
            <a:pPr>
              <a:defRPr sz="1300"/>
            </a:pPr>
            <a:r>
              <a:rPr dirty="0" err="1"/>
              <a:t>L'eccezione</a:t>
            </a:r>
            <a:r>
              <a:rPr dirty="0"/>
              <a:t> </a:t>
            </a:r>
            <a:r>
              <a:rPr dirty="0" err="1"/>
              <a:t>ObjectOptimisticLockingFailureException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intercettata</a:t>
            </a:r>
            <a:r>
              <a:rPr dirty="0"/>
              <a:t> e </a:t>
            </a:r>
            <a:r>
              <a:rPr dirty="0" err="1"/>
              <a:t>tradotta</a:t>
            </a:r>
            <a:r>
              <a:rPr dirty="0"/>
              <a:t> in HTTP 409 Conflict.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303C0B-8FB7-49EC-94FF-3E93D9243D20}"/>
              </a:ext>
            </a:extLst>
          </p:cNvPr>
          <p:cNvSpPr txBox="1"/>
          <p:nvPr/>
        </p:nvSpPr>
        <p:spPr>
          <a:xfrm>
            <a:off x="651603" y="3236399"/>
            <a:ext cx="454895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Prestazioni:</a:t>
            </a:r>
          </a:p>
          <a:p>
            <a:r>
              <a:rPr lang="it-IT" sz="800" dirty="0"/>
              <a:t> </a:t>
            </a:r>
            <a:r>
              <a:rPr lang="it-IT" sz="1400" dirty="0"/>
              <a:t>Adozione dell'</a:t>
            </a:r>
            <a:r>
              <a:rPr lang="it-IT" sz="1400" dirty="0" err="1"/>
              <a:t>Optimistic</a:t>
            </a:r>
            <a:r>
              <a:rPr lang="it-IT" sz="1400" dirty="0"/>
              <a:t> </a:t>
            </a:r>
            <a:r>
              <a:rPr lang="it-IT" sz="1400" dirty="0" err="1"/>
              <a:t>Locking</a:t>
            </a:r>
            <a:r>
              <a:rPr lang="it-IT" sz="1400" dirty="0"/>
              <a:t> per garantire l'integrità relazionale evitando i limiti (es. SELECT FOR UPDATE) tipici dei lock pessimistici.</a:t>
            </a:r>
          </a:p>
          <a:p>
            <a:endParaRPr lang="it-IT" sz="800" dirty="0"/>
          </a:p>
          <a:p>
            <a:r>
              <a:rPr lang="it-IT" sz="1600" b="1" dirty="0"/>
              <a:t>Meccanica ORM:</a:t>
            </a:r>
            <a:r>
              <a:rPr lang="it-IT" sz="1600" dirty="0"/>
              <a:t> </a:t>
            </a:r>
          </a:p>
          <a:p>
            <a:r>
              <a:rPr lang="it-IT" sz="1400" dirty="0"/>
              <a:t>La gestione della concorrenza è delegata al database tramite l'operatore logico AND generato dinamicamente da </a:t>
            </a:r>
            <a:r>
              <a:rPr lang="it-IT" sz="1400" dirty="0" err="1"/>
              <a:t>Hibernate</a:t>
            </a:r>
            <a:r>
              <a:rPr lang="it-IT" sz="1400" dirty="0"/>
              <a:t>.</a:t>
            </a:r>
          </a:p>
          <a:p>
            <a:endParaRPr lang="it-IT" sz="800" dirty="0"/>
          </a:p>
          <a:p>
            <a:r>
              <a:rPr lang="it-IT" sz="1600" b="1" dirty="0"/>
              <a:t>Gestione Anomalia:</a:t>
            </a:r>
            <a:r>
              <a:rPr lang="it-IT" sz="1600" dirty="0"/>
              <a:t> </a:t>
            </a:r>
          </a:p>
          <a:p>
            <a:r>
              <a:rPr lang="it-IT" sz="1400" dirty="0"/>
              <a:t>Traduzione dell'eccezione interna </a:t>
            </a:r>
            <a:r>
              <a:rPr lang="it-IT" sz="1400" dirty="0" err="1"/>
              <a:t>ObjectOptimisticLockingFailureException</a:t>
            </a:r>
            <a:endParaRPr lang="it-IT" sz="1400" dirty="0"/>
          </a:p>
          <a:p>
            <a:r>
              <a:rPr lang="it-IT" sz="1400" dirty="0"/>
              <a:t>nel corretto status code di rete (HTTP 409) per avvisare il 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Refactoring: Gestione Eccezioni Centralizzata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264" y="1145986"/>
            <a:ext cx="8092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In </a:t>
            </a:r>
            <a:r>
              <a:rPr dirty="0" err="1"/>
              <a:t>architetture</a:t>
            </a:r>
            <a:r>
              <a:rPr dirty="0"/>
              <a:t> </a:t>
            </a:r>
            <a:r>
              <a:rPr dirty="0" err="1"/>
              <a:t>distribuite</a:t>
            </a:r>
            <a:r>
              <a:rPr dirty="0"/>
              <a:t>, è </a:t>
            </a:r>
            <a:r>
              <a:rPr dirty="0" err="1"/>
              <a:t>essenziale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servizi</a:t>
            </a:r>
            <a:r>
              <a:rPr dirty="0"/>
              <a:t> </a:t>
            </a:r>
            <a:r>
              <a:rPr dirty="0" err="1"/>
              <a:t>restituiscano</a:t>
            </a:r>
            <a:r>
              <a:rPr dirty="0"/>
              <a:t> </a:t>
            </a:r>
            <a:r>
              <a:rPr dirty="0" err="1"/>
              <a:t>errori</a:t>
            </a:r>
            <a:r>
              <a:rPr dirty="0"/>
              <a:t> in </a:t>
            </a:r>
            <a:r>
              <a:rPr dirty="0" err="1"/>
              <a:t>formati</a:t>
            </a:r>
            <a:r>
              <a:rPr dirty="0"/>
              <a:t> JSON </a:t>
            </a:r>
            <a:r>
              <a:rPr dirty="0" err="1"/>
              <a:t>prevedibili</a:t>
            </a:r>
            <a:r>
              <a:rPr dirty="0"/>
              <a:t> (es. per un API Gateway).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48971"/>
            <a:ext cx="3495040" cy="3015129"/>
          </a:xfrm>
          <a:prstGeom prst="roundRect">
            <a:avLst/>
          </a:prstGeom>
          <a:solidFill>
            <a:srgbClr val="FFEBEE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3807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D32F2F"/>
                </a:solidFill>
              </a:defRPr>
            </a:pPr>
            <a:r>
              <a:rPr dirty="0"/>
              <a:t>Prima (Anti-Pattern)</a:t>
            </a:r>
          </a:p>
          <a:p>
            <a:r>
              <a:rPr dirty="0"/>
              <a:t>• </a:t>
            </a:r>
            <a:r>
              <a:rPr dirty="0" err="1"/>
              <a:t>Gestione</a:t>
            </a:r>
            <a:r>
              <a:rPr dirty="0"/>
              <a:t> locale </a:t>
            </a:r>
            <a:r>
              <a:rPr dirty="0" err="1"/>
              <a:t>nei</a:t>
            </a:r>
            <a:r>
              <a:rPr dirty="0"/>
              <a:t> Controller (</a:t>
            </a:r>
            <a:r>
              <a:rPr dirty="0" err="1"/>
              <a:t>blocchi</a:t>
            </a:r>
            <a:r>
              <a:rPr dirty="0"/>
              <a:t> try-catch </a:t>
            </a:r>
            <a:r>
              <a:rPr dirty="0" err="1"/>
              <a:t>ripetuti</a:t>
            </a:r>
            <a:r>
              <a:rPr dirty="0"/>
              <a:t>).</a:t>
            </a:r>
          </a:p>
          <a:p>
            <a:r>
              <a:rPr dirty="0"/>
              <a:t>• </a:t>
            </a:r>
            <a:r>
              <a:rPr dirty="0" err="1"/>
              <a:t>Violazione</a:t>
            </a:r>
            <a:r>
              <a:rPr dirty="0"/>
              <a:t> </a:t>
            </a:r>
            <a:r>
              <a:rPr dirty="0" err="1"/>
              <a:t>della</a:t>
            </a:r>
            <a:r>
              <a:rPr dirty="0"/>
              <a:t> Separation of Concerns.</a:t>
            </a:r>
          </a:p>
          <a:p>
            <a:r>
              <a:rPr dirty="0"/>
              <a:t>• </a:t>
            </a:r>
            <a:r>
              <a:rPr dirty="0" err="1"/>
              <a:t>Rischio</a:t>
            </a:r>
            <a:r>
              <a:rPr dirty="0"/>
              <a:t> di </a:t>
            </a:r>
            <a:r>
              <a:rPr dirty="0" err="1"/>
              <a:t>formati</a:t>
            </a:r>
            <a:r>
              <a:rPr dirty="0"/>
              <a:t> JSON </a:t>
            </a:r>
            <a:r>
              <a:rPr dirty="0" err="1"/>
              <a:t>incoerenti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vari</a:t>
            </a:r>
            <a:r>
              <a:rPr dirty="0"/>
              <a:t> endpoint.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2879" y="3840480"/>
            <a:ext cx="603250" cy="365760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46320" y="1848971"/>
            <a:ext cx="3703320" cy="3015129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2850" y="1955236"/>
            <a:ext cx="35267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4CAF50"/>
                </a:solidFill>
              </a:defRPr>
            </a:pPr>
            <a:r>
              <a:rPr dirty="0"/>
              <a:t>Dopo (AOP - Aspect Oriented Programming)</a:t>
            </a:r>
          </a:p>
          <a:p>
            <a:r>
              <a:rPr dirty="0"/>
              <a:t>• </a:t>
            </a:r>
            <a:r>
              <a:rPr dirty="0" err="1"/>
              <a:t>Utilizzo</a:t>
            </a:r>
            <a:r>
              <a:rPr dirty="0"/>
              <a:t> di @RestControllerAdvice per </a:t>
            </a:r>
            <a:r>
              <a:rPr dirty="0" err="1"/>
              <a:t>intercettare</a:t>
            </a:r>
            <a:r>
              <a:rPr dirty="0"/>
              <a:t> </a:t>
            </a:r>
            <a:r>
              <a:rPr dirty="0" err="1"/>
              <a:t>l'eccezione</a:t>
            </a:r>
            <a:r>
              <a:rPr dirty="0"/>
              <a:t> a </a:t>
            </a:r>
            <a:r>
              <a:rPr dirty="0" err="1"/>
              <a:t>livello</a:t>
            </a:r>
            <a:r>
              <a:rPr dirty="0"/>
              <a:t> </a:t>
            </a:r>
            <a:r>
              <a:rPr dirty="0" err="1"/>
              <a:t>globale</a:t>
            </a:r>
            <a:r>
              <a:rPr dirty="0"/>
              <a:t>.</a:t>
            </a:r>
          </a:p>
          <a:p>
            <a:r>
              <a:rPr dirty="0"/>
              <a:t>• Controller </a:t>
            </a:r>
            <a:r>
              <a:rPr dirty="0" err="1"/>
              <a:t>puliti</a:t>
            </a:r>
            <a:r>
              <a:rPr dirty="0"/>
              <a:t> e </a:t>
            </a:r>
            <a:r>
              <a:rPr dirty="0" err="1"/>
              <a:t>concentrati</a:t>
            </a:r>
            <a:r>
              <a:rPr dirty="0"/>
              <a:t> </a:t>
            </a:r>
            <a:r>
              <a:rPr dirty="0" err="1"/>
              <a:t>sull'Happy</a:t>
            </a:r>
            <a:r>
              <a:rPr dirty="0"/>
              <a:t> Path.</a:t>
            </a:r>
          </a:p>
          <a:p>
            <a:r>
              <a:rPr dirty="0"/>
              <a:t>• DTO </a:t>
            </a:r>
            <a:r>
              <a:rPr dirty="0" err="1"/>
              <a:t>dedicato</a:t>
            </a:r>
            <a:r>
              <a:rPr dirty="0"/>
              <a:t> (</a:t>
            </a:r>
            <a:r>
              <a:rPr dirty="0" err="1"/>
              <a:t>ErrorResponse</a:t>
            </a:r>
            <a:r>
              <a:rPr dirty="0"/>
              <a:t>) per </a:t>
            </a:r>
            <a:r>
              <a:rPr dirty="0" err="1"/>
              <a:t>standardizzare</a:t>
            </a:r>
            <a:r>
              <a:rPr dirty="0"/>
              <a:t> la </a:t>
            </a:r>
            <a:r>
              <a:rPr dirty="0" err="1"/>
              <a:t>struttura</a:t>
            </a:r>
            <a:r>
              <a:rPr dirty="0"/>
              <a:t> </a:t>
            </a:r>
            <a:r>
              <a:rPr dirty="0" err="1"/>
              <a:t>dell'errore</a:t>
            </a:r>
            <a:r>
              <a:rPr dirty="0"/>
              <a:t> HTTP 409.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0C5C6E0-F691-456A-965E-AE54C72657AE}"/>
              </a:ext>
            </a:extLst>
          </p:cNvPr>
          <p:cNvSpPr txBox="1"/>
          <p:nvPr/>
        </p:nvSpPr>
        <p:spPr>
          <a:xfrm>
            <a:off x="573554" y="4964015"/>
            <a:ext cx="8185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Obiettivo del </a:t>
            </a:r>
            <a:r>
              <a:rPr lang="it-IT" sz="1600" b="1" dirty="0" err="1"/>
              <a:t>Refactoring</a:t>
            </a:r>
            <a:r>
              <a:rPr lang="it-IT" sz="1600" b="1" dirty="0"/>
              <a:t>:</a:t>
            </a:r>
          </a:p>
          <a:p>
            <a:r>
              <a:rPr lang="it-IT" sz="1400" dirty="0"/>
              <a:t>Eliminare la frammentazione del codice (Anti-Pattern) applicando la Separazione delle responsabilità. Grazie alla rete di sicurezza AOP (@RestControllerAdvice), i Controller gestiscono esclusivamente le operazioni a buon fine (</a:t>
            </a:r>
            <a:r>
              <a:rPr lang="it-IT" sz="1400" i="1" dirty="0"/>
              <a:t>Happy </a:t>
            </a:r>
            <a:r>
              <a:rPr lang="it-IT" sz="1400" i="1" dirty="0" err="1"/>
              <a:t>Path</a:t>
            </a:r>
            <a:r>
              <a:rPr lang="it-IT" sz="1400" dirty="0"/>
              <a:t>), mentre le eccezioni vengono catturate globalmente e impacchettate in un formato JSON standardizzato tramite un DTO dedicato.</a:t>
            </a:r>
            <a:endParaRPr lang="it-IT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Strategia di Collaudo e Validazione</a:t>
            </a:r>
          </a:p>
        </p:txBody>
      </p:sp>
      <p:sp>
        <p:nvSpPr>
          <p:cNvPr id="4" name="Trapezoid 3"/>
          <p:cNvSpPr/>
          <p:nvPr/>
        </p:nvSpPr>
        <p:spPr>
          <a:xfrm>
            <a:off x="0" y="4873681"/>
            <a:ext cx="5486400" cy="1371600"/>
          </a:xfrm>
          <a:prstGeom prst="trapezoid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-70597" y="5192363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dirty="0"/>
              <a:t>Unit Test (</a:t>
            </a:r>
            <a:r>
              <a:rPr dirty="0" err="1"/>
              <a:t>Isolamento</a:t>
            </a:r>
            <a:r>
              <a:rPr dirty="0"/>
              <a:t>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 err="1"/>
              <a:t>Validazione</a:t>
            </a:r>
            <a:r>
              <a:rPr dirty="0"/>
              <a:t> </a:t>
            </a:r>
            <a:r>
              <a:rPr dirty="0" err="1"/>
              <a:t>logica</a:t>
            </a:r>
            <a:r>
              <a:rPr dirty="0"/>
              <a:t> di business </a:t>
            </a:r>
            <a:r>
              <a:rPr dirty="0" err="1"/>
              <a:t>pura</a:t>
            </a:r>
            <a:r>
              <a:rPr dirty="0"/>
              <a:t> </a:t>
            </a:r>
            <a:r>
              <a:rPr dirty="0" err="1"/>
              <a:t>tramite</a:t>
            </a:r>
            <a:r>
              <a:rPr dirty="0"/>
              <a:t> framework Mockito.</a:t>
            </a:r>
          </a:p>
        </p:txBody>
      </p:sp>
      <p:sp>
        <p:nvSpPr>
          <p:cNvPr id="6" name="Trapezoid 5"/>
          <p:cNvSpPr/>
          <p:nvPr/>
        </p:nvSpPr>
        <p:spPr>
          <a:xfrm>
            <a:off x="837080" y="3372225"/>
            <a:ext cx="3812240" cy="1371600"/>
          </a:xfrm>
          <a:prstGeom prst="trapezoid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269253" y="3416586"/>
            <a:ext cx="28067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dirty="0"/>
              <a:t>Integration Test (Sotto </a:t>
            </a:r>
            <a:r>
              <a:rPr dirty="0" err="1"/>
              <a:t>Sforzo</a:t>
            </a:r>
            <a:r>
              <a:rPr dirty="0"/>
              <a:t>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 err="1"/>
              <a:t>Simulazione</a:t>
            </a:r>
            <a:r>
              <a:rPr dirty="0"/>
              <a:t> </a:t>
            </a:r>
            <a:r>
              <a:rPr dirty="0" err="1"/>
              <a:t>accessi</a:t>
            </a:r>
            <a:r>
              <a:rPr dirty="0"/>
              <a:t> </a:t>
            </a:r>
            <a:r>
              <a:rPr dirty="0" err="1"/>
              <a:t>paralleli</a:t>
            </a:r>
            <a:r>
              <a:rPr dirty="0"/>
              <a:t> (</a:t>
            </a:r>
            <a:r>
              <a:rPr dirty="0" err="1"/>
              <a:t>CompletableFuture</a:t>
            </a:r>
            <a:r>
              <a:rPr dirty="0"/>
              <a:t>) </a:t>
            </a:r>
            <a:r>
              <a:rPr dirty="0" err="1"/>
              <a:t>su</a:t>
            </a:r>
            <a:r>
              <a:rPr dirty="0"/>
              <a:t> DB H2 </a:t>
            </a:r>
            <a:r>
              <a:rPr dirty="0" err="1"/>
              <a:t>reale</a:t>
            </a:r>
            <a:r>
              <a:rPr dirty="0"/>
              <a:t>.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1546412" y="1611325"/>
            <a:ext cx="2393576" cy="1645920"/>
          </a:xfrm>
          <a:prstGeom prst="triangle">
            <a:avLst/>
          </a:prstGeom>
          <a:solidFill>
            <a:srgbClr val="90CA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78492" y="2306510"/>
            <a:ext cx="15294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/>
            </a:pPr>
            <a:r>
              <a:rPr dirty="0"/>
              <a:t>End-to-End (E2E)</a:t>
            </a:r>
          </a:p>
          <a:p>
            <a:pPr algn="ctr">
              <a:defRPr sz="1200"/>
            </a:pPr>
            <a:r>
              <a:rPr dirty="0"/>
              <a:t>Postman: cross-</a:t>
            </a:r>
            <a:r>
              <a:rPr dirty="0" err="1"/>
              <a:t>servizio</a:t>
            </a:r>
            <a:r>
              <a:rPr dirty="0"/>
              <a:t>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230AA5C-5644-4B56-83EA-5BDB2133C561}"/>
              </a:ext>
            </a:extLst>
          </p:cNvPr>
          <p:cNvSpPr txBox="1"/>
          <p:nvPr/>
        </p:nvSpPr>
        <p:spPr>
          <a:xfrm>
            <a:off x="5415803" y="4891618"/>
            <a:ext cx="3207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Unit Test (Isolamento):</a:t>
            </a:r>
          </a:p>
          <a:p>
            <a:r>
              <a:rPr lang="it-IT" sz="1400" dirty="0"/>
              <a:t>Validazione rapida della logica di business (es. policy utenti) slegata dalla persistenza, tramite creazione di oggetti fittizi con </a:t>
            </a:r>
            <a:r>
              <a:rPr lang="it-IT" sz="1400" i="1" dirty="0" err="1"/>
              <a:t>Mockito</a:t>
            </a:r>
            <a:r>
              <a:rPr lang="it-IT" sz="1400" dirty="0"/>
              <a:t>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C252D4-A03F-4DB2-AC40-8327E9844F67}"/>
              </a:ext>
            </a:extLst>
          </p:cNvPr>
          <p:cNvSpPr txBox="1"/>
          <p:nvPr/>
        </p:nvSpPr>
        <p:spPr>
          <a:xfrm>
            <a:off x="5308226" y="3298009"/>
            <a:ext cx="320712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Integration Test (Stress Test):</a:t>
            </a:r>
            <a:r>
              <a:rPr lang="it-IT" sz="1600" dirty="0"/>
              <a:t> </a:t>
            </a:r>
          </a:p>
          <a:p>
            <a:r>
              <a:rPr lang="it-IT" sz="1400" dirty="0"/>
              <a:t>Verifica critica della concorrenza. Utilizzo di </a:t>
            </a:r>
            <a:r>
              <a:rPr lang="it-IT" sz="1400" dirty="0" err="1"/>
              <a:t>CompletableFuture</a:t>
            </a:r>
            <a:r>
              <a:rPr lang="it-IT" sz="1400" dirty="0"/>
              <a:t> per simulare accessi paralleli (multi-threading) e validare l'intervento dell'</a:t>
            </a:r>
            <a:r>
              <a:rPr lang="it-IT" sz="1400" dirty="0" err="1"/>
              <a:t>Optimistic</a:t>
            </a:r>
            <a:r>
              <a:rPr lang="it-IT" sz="1400" dirty="0"/>
              <a:t> </a:t>
            </a:r>
            <a:r>
              <a:rPr lang="it-IT" sz="1400" dirty="0" err="1"/>
              <a:t>Locking</a:t>
            </a:r>
            <a:r>
              <a:rPr lang="it-IT" sz="1400" dirty="0"/>
              <a:t> sul DB reale.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87E4F10-6EE1-4B0B-93B2-BEFF47A05FCA}"/>
              </a:ext>
            </a:extLst>
          </p:cNvPr>
          <p:cNvSpPr txBox="1"/>
          <p:nvPr/>
        </p:nvSpPr>
        <p:spPr>
          <a:xfrm>
            <a:off x="5301502" y="1832211"/>
            <a:ext cx="32138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End-to-End (Cross-Servizio):</a:t>
            </a:r>
          </a:p>
          <a:p>
            <a:r>
              <a:rPr lang="it-IT" sz="1400" dirty="0"/>
              <a:t>Collaudo architetturale tramite </a:t>
            </a:r>
            <a:r>
              <a:rPr lang="it-IT" sz="1400" i="1" dirty="0" err="1"/>
              <a:t>Postman</a:t>
            </a:r>
            <a:r>
              <a:rPr lang="it-IT" sz="1400" dirty="0"/>
              <a:t> per certificare la corretta orchestrazione di rete HTTP tra i </a:t>
            </a:r>
            <a:r>
              <a:rPr lang="it-IT" sz="1400" dirty="0" err="1"/>
              <a:t>microservizi</a:t>
            </a:r>
            <a:r>
              <a:rPr lang="it-IT" sz="1400" dirty="0"/>
              <a:t> e il client finale.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786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it-IT" dirty="0"/>
              <a:t>Risultati del Collaudo e Obiettivi Raggiunti</a:t>
            </a:r>
            <a:endParaRPr dirty="0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E7A841F2-F000-4CE7-BFD5-12FD5CFFC98E}"/>
              </a:ext>
            </a:extLst>
          </p:cNvPr>
          <p:cNvSpPr/>
          <p:nvPr/>
        </p:nvSpPr>
        <p:spPr>
          <a:xfrm>
            <a:off x="833717" y="1990165"/>
            <a:ext cx="3469341" cy="1882588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Simulazione Concorrenza (Stress Test):</a:t>
            </a:r>
            <a:r>
              <a:rPr lang="it-IT" dirty="0">
                <a:solidFill>
                  <a:schemeClr val="tx1"/>
                </a:solidFill>
              </a:rPr>
              <a:t> Inviate richieste HTTP simultanee (multi-</a:t>
            </a:r>
            <a:r>
              <a:rPr lang="it-IT" dirty="0" err="1">
                <a:solidFill>
                  <a:schemeClr val="tx1"/>
                </a:solidFill>
              </a:rPr>
              <a:t>thread</a:t>
            </a:r>
            <a:r>
              <a:rPr lang="it-IT" dirty="0">
                <a:solidFill>
                  <a:schemeClr val="tx1"/>
                </a:solidFill>
              </a:rPr>
              <a:t>) sulla medesima colonnina appena liberata.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EE3403B7-EDA6-475B-8EA7-A6883AF3A769}"/>
              </a:ext>
            </a:extLst>
          </p:cNvPr>
          <p:cNvSpPr/>
          <p:nvPr/>
        </p:nvSpPr>
        <p:spPr>
          <a:xfrm>
            <a:off x="4639236" y="1990165"/>
            <a:ext cx="3469341" cy="1882588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tx1"/>
                </a:solidFill>
              </a:rPr>
              <a:t>Risoluzione del Conflitto: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L'</a:t>
            </a:r>
            <a:r>
              <a:rPr lang="it-IT" sz="1600" dirty="0" err="1">
                <a:solidFill>
                  <a:schemeClr val="tx1"/>
                </a:solidFill>
              </a:rPr>
              <a:t>Optimistic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r>
              <a:rPr lang="it-IT" sz="1600" dirty="0" err="1">
                <a:solidFill>
                  <a:schemeClr val="tx1"/>
                </a:solidFill>
              </a:rPr>
              <a:t>Locking</a:t>
            </a:r>
            <a:r>
              <a:rPr lang="it-IT" sz="1600" dirty="0">
                <a:solidFill>
                  <a:schemeClr val="tx1"/>
                </a:solidFill>
              </a:rPr>
              <a:t> ha intercettato e bloccato l'anomalia. Il sistema ha elaborato rigorosamente </a:t>
            </a:r>
            <a:r>
              <a:rPr lang="it-IT" sz="1600" b="1" dirty="0">
                <a:solidFill>
                  <a:schemeClr val="tx1"/>
                </a:solidFill>
              </a:rPr>
              <a:t>1 successo (HTTP 200 OK) </a:t>
            </a:r>
            <a:r>
              <a:rPr lang="it-IT" sz="1600" dirty="0">
                <a:solidFill>
                  <a:schemeClr val="tx1"/>
                </a:solidFill>
              </a:rPr>
              <a:t>e </a:t>
            </a:r>
            <a:r>
              <a:rPr lang="it-IT" sz="1600" b="1" dirty="0">
                <a:solidFill>
                  <a:schemeClr val="tx1"/>
                </a:solidFill>
              </a:rPr>
              <a:t>1 fallimento controllato (HTTP 409 </a:t>
            </a:r>
            <a:r>
              <a:rPr lang="it-IT" sz="1600" b="1" dirty="0" err="1">
                <a:solidFill>
                  <a:schemeClr val="tx1"/>
                </a:solidFill>
              </a:rPr>
              <a:t>Conflict</a:t>
            </a:r>
            <a:r>
              <a:rPr lang="it-IT" sz="1600" b="1" dirty="0">
                <a:solidFill>
                  <a:schemeClr val="tx1"/>
                </a:solidFill>
              </a:rPr>
              <a:t>).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D0FEDF3D-3715-4B74-B8B7-9518F6C8ACB4}"/>
              </a:ext>
            </a:extLst>
          </p:cNvPr>
          <p:cNvSpPr/>
          <p:nvPr/>
        </p:nvSpPr>
        <p:spPr>
          <a:xfrm>
            <a:off x="3012141" y="4246582"/>
            <a:ext cx="3260911" cy="18288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Consistenza dei Dati (Obiettivo Raggiunto):</a:t>
            </a:r>
            <a:r>
              <a:rPr lang="it-IT" dirty="0">
                <a:solidFill>
                  <a:schemeClr val="tx1"/>
                </a:solidFill>
              </a:rPr>
              <a:t> Nessuna doppia prenotazione. Integrità relazionale e fisica garantita al 100% in fase di assegnazione della risorsa.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86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Limiti Attuali ed Evoluzione (Cloud Native)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32F2F"/>
                </a:solidFill>
              </a:defRPr>
            </a:pPr>
            <a:r>
              <a:t>Limiti del prototipo: DB H2 volatile, comunicazione REST sincrona senza rollback, assenza Identity Provider.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560320" cy="3657600"/>
          </a:xfrm>
          <a:prstGeom prst="round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1. DevOps &amp; Scalabilità</a:t>
            </a:r>
          </a:p>
          <a:p>
            <a:r>
              <a:t>• Sostituzione H2 con PostgreSQL.</a:t>
            </a:r>
          </a:p>
          <a:p>
            <a:r>
              <a:t>• Containerizzazione via Docker (Dockerfile Multi-stage).</a:t>
            </a:r>
          </a:p>
          <a:p>
            <a:r>
              <a:t>• Orchestrazione cluster tramite Kubernetes.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286000"/>
            <a:ext cx="2560320" cy="36576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2. Sicurezza (API Gateway)</a:t>
            </a:r>
          </a:p>
          <a:p>
            <a:r>
              <a:t>• Introduzione di un Single Point of Entry.</a:t>
            </a:r>
          </a:p>
          <a:p>
            <a:r>
              <a:t>• Risoluzione vulnerabilità di spoofing (matricola in chiaro).</a:t>
            </a:r>
          </a:p>
          <a:p>
            <a:r>
              <a:t>• Integrazione standard OAuth2 con validazione JWT.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2560320" cy="3657600"/>
          </a:xfrm>
          <a:prstGeom prst="roundRect">
            <a:avLst/>
          </a:prstGeom>
          <a:solidFill>
            <a:srgbClr val="FFF3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3. Resilienza (Pattern Saga)</a:t>
            </a:r>
          </a:p>
          <a:p>
            <a:r>
              <a:t>• Abbandono REST bloccante.</a:t>
            </a:r>
          </a:p>
          <a:p>
            <a:r>
              <a:t>• Transizione verso architettura Event-Driven (Apache Kafka).</a:t>
            </a:r>
          </a:p>
          <a:p>
            <a:r>
              <a:t>• Implementazione Transazioni Compensative per il rollback logico distribuito.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Grazie per l'attenzione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o">
  <a:themeElements>
    <a:clrScheme name="Orga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574</TotalTime>
  <Words>1397</Words>
  <Application>Microsoft Office PowerPoint</Application>
  <PresentationFormat>Presentazione su schermo (4:3)</PresentationFormat>
  <Paragraphs>148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Garamond</vt:lpstr>
      <vt:lpstr>Organico</vt:lpstr>
      <vt:lpstr>Progettazione e Sviluppo di un'Architettura a Microservizi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Progettazione e Sviluppo di un'Architettura a Microservizi</dc:title>
  <dc:subject/>
  <dc:creator/>
  <cp:keywords/>
  <dc:description>generated using python-pptx</dc:description>
  <cp:lastModifiedBy>RAIMONDO PANICO</cp:lastModifiedBy>
  <cp:revision>19</cp:revision>
  <dcterms:created xsi:type="dcterms:W3CDTF">2013-01-27T09:14:16Z</dcterms:created>
  <dcterms:modified xsi:type="dcterms:W3CDTF">2026-09-20T22:31:44Z</dcterms:modified>
  <cp:category/>
</cp:coreProperties>
</file>